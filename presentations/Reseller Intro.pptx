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315" r:id="rId3"/>
    <p:sldId id="340" r:id="rId4"/>
    <p:sldId id="34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205E"/>
    <a:srgbClr val="4472C4"/>
    <a:srgbClr val="ED7D31"/>
    <a:srgbClr val="999999"/>
    <a:srgbClr val="02BFF3"/>
    <a:srgbClr val="4DBADE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73829" autoAdjust="0"/>
  </p:normalViewPr>
  <p:slideViewPr>
    <p:cSldViewPr snapToGrid="0">
      <p:cViewPr>
        <p:scale>
          <a:sx n="49" d="100"/>
          <a:sy n="49" d="100"/>
        </p:scale>
        <p:origin x="-97" y="-6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8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86EB58-B88A-4B90-9C0E-85CC494D657B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601C15-F090-4DA8-8F7A-3FEA8CB966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73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$32 Billion - global fraud loss, up over 280% from 2012 (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$11.27 billion</a:t>
            </a:r>
            <a:r>
              <a:rPr lang="en-US" dirty="0" smtClean="0"/>
              <a:t>) </a:t>
            </a:r>
            <a:r>
              <a:rPr lang="en-US" sz="800" dirty="0" smtClean="0"/>
              <a:t>(PYMNTS.com Feb 17, 2015 and economist.com Feb 15, 2014) $23b in 2013 depending on which report you use.. (http://www.businessinsider.com/how-payment-companies-are-trying-to-close-the-massive-hole-in-credit-card-security-2015-3)</a:t>
            </a:r>
          </a:p>
          <a:p>
            <a:r>
              <a:rPr lang="en-US" dirty="0" smtClean="0"/>
              <a:t>$3.08 – the amount merchant paid per a dollar of fraud in 2014 </a:t>
            </a:r>
            <a:r>
              <a:rPr lang="en-US" sz="900" dirty="0" smtClean="0"/>
              <a:t>(2015 lexisnexis.com report)</a:t>
            </a:r>
          </a:p>
          <a:p>
            <a:r>
              <a:rPr lang="en-US" sz="1200" dirty="0" smtClean="0"/>
              <a:t>5.2% – the percentage of legitimate transactions rejected, 2.9 US and CA and 7.5% Non north America </a:t>
            </a:r>
            <a:r>
              <a:rPr lang="en-US" sz="900" dirty="0" smtClean="0"/>
              <a:t>(Cybersource.com 2013)</a:t>
            </a:r>
          </a:p>
          <a:p>
            <a:r>
              <a:rPr lang="en-US" sz="1200" dirty="0" smtClean="0"/>
              <a:t>22% - the percentage of transactions are reviewed manually </a:t>
            </a:r>
            <a:r>
              <a:rPr lang="en-US" sz="900" dirty="0" smtClean="0"/>
              <a:t>(Cybersource.com http://www.cybersource.com/resources/collateral/Resource_Center/whitepapers_and_reports/CYBS-Fraud-Benchmark-Report.pdf)</a:t>
            </a:r>
          </a:p>
          <a:p>
            <a:endParaRPr lang="en-US" sz="1200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01C15-F090-4DA8-8F7A-3FEA8CB9665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88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http://www.creditcards.com/credit-card-news/online-fraud-surge-emv-1273.php</a:t>
            </a:r>
          </a:p>
          <a:p>
            <a:endParaRPr lang="en-US" dirty="0" smtClean="0"/>
          </a:p>
          <a:p>
            <a:r>
              <a:rPr lang="en-US" dirty="0" smtClean="0"/>
              <a:t>https://www.internetretailer.com/2015/03/05/card-not-present-fraud-rates-will-rise-question-when</a:t>
            </a:r>
          </a:p>
          <a:p>
            <a:endParaRPr lang="en-US" dirty="0" smtClean="0"/>
          </a:p>
          <a:p>
            <a:r>
              <a:rPr lang="en-US" dirty="0" smtClean="0"/>
              <a:t>EMV = </a:t>
            </a:r>
            <a:r>
              <a:rPr lang="en-US" dirty="0" err="1" smtClean="0"/>
              <a:t>Europay</a:t>
            </a:r>
            <a:r>
              <a:rPr lang="en-US" dirty="0" smtClean="0"/>
              <a:t> master visa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01C15-F090-4DA8-8F7A-3FEA8CB9665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88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0.9% of dollars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spent is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fraud according the cyber coerce, that plus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$3.08 (the cost of fraud per a dollar when factoring in fees) = 2.77% lost to fraud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</a:t>
            </a:r>
            <a:r>
              <a:rPr lang="en-US" dirty="0" smtClean="0"/>
              <a:t>Online fraud in the US claims an average of 2.77% of total online revenue when factoring in the cost of fraud which is $2.17 of the average transaction value ($78.3).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Avg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(78.3*.009) = $0.7047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78.3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 .009 %= .7047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78.3*.001% = 0.08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0.08* $3.08 = $0.246 ~ $0.25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Savings = 2.19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83% do manual review at 27%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22% Manual Review Rate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 2.17 our fraud cost .08 (.001 * 78.3) = we save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avg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$2.08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dirty="0" smtClean="0"/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3. based on (5.2% false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positive x $78.3) x .3 = $4.07 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$1.22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Our rate = (.01 x 78.3) x .3 = $0.23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dirty="0" smtClean="0"/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601C15-F090-4DA8-8F7A-3FEA8CB9665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88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bg1">
              <a:alpha val="70000"/>
            </a:schemeClr>
          </a:solidFill>
        </p:spPr>
        <p:txBody>
          <a:bodyPr anchor="b"/>
          <a:lstStyle>
            <a:lvl1pPr algn="ctr">
              <a:defRPr sz="6000">
                <a:solidFill>
                  <a:srgbClr val="00205E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solidFill>
            <a:schemeClr val="bg1">
              <a:alpha val="70000"/>
            </a:schemeClr>
          </a:solidFill>
        </p:spPr>
        <p:txBody>
          <a:bodyPr/>
          <a:lstStyle>
            <a:lvl1pPr marL="0" indent="0" algn="ctr">
              <a:buNone/>
              <a:defRPr sz="2400">
                <a:solidFill>
                  <a:srgbClr val="00205E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136922EA-3A5B-4EA9-A399-92156B45D863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58871" y="5845366"/>
            <a:ext cx="2743200" cy="365125"/>
          </a:xfrm>
          <a:prstGeom prst="rect">
            <a:avLst/>
          </a:prstGeom>
        </p:spPr>
        <p:txBody>
          <a:bodyPr/>
          <a:lstStyle/>
          <a:p>
            <a:fld id="{3892C34F-8098-44D7-BABE-F096F045C18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093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tx1">
                  <a:lumMod val="50000"/>
                  <a:lumOff val="50000"/>
                </a:schemeClr>
              </a:buClr>
              <a:defRPr/>
            </a:lvl2pPr>
            <a:lvl3pPr>
              <a:buClr>
                <a:srgbClr val="0070C0"/>
              </a:buClr>
              <a:defRPr/>
            </a:lvl3pPr>
            <a:lvl4pPr>
              <a:buClr>
                <a:srgbClr val="0070C0"/>
              </a:buClr>
              <a:defRPr/>
            </a:lvl4pPr>
            <a:lvl5pPr>
              <a:buClr>
                <a:srgbClr val="0070C0"/>
              </a:buCl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64778" y="190317"/>
            <a:ext cx="11066929" cy="1060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226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136922EA-3A5B-4EA9-A399-92156B45D863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58871" y="5845366"/>
            <a:ext cx="2743200" cy="365125"/>
          </a:xfrm>
          <a:prstGeom prst="rect">
            <a:avLst/>
          </a:prstGeom>
        </p:spPr>
        <p:txBody>
          <a:bodyPr/>
          <a:lstStyle/>
          <a:p>
            <a:fld id="{3892C34F-8098-44D7-BABE-F096F045C1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0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136922EA-3A5B-4EA9-A399-92156B45D863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58871" y="5845366"/>
            <a:ext cx="2743200" cy="365125"/>
          </a:xfrm>
          <a:prstGeom prst="rect">
            <a:avLst/>
          </a:prstGeom>
        </p:spPr>
        <p:txBody>
          <a:bodyPr/>
          <a:lstStyle/>
          <a:p>
            <a:fld id="{3892C34F-8098-44D7-BABE-F096F045C1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65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136922EA-3A5B-4EA9-A399-92156B45D863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58871" y="5845366"/>
            <a:ext cx="2743200" cy="365125"/>
          </a:xfrm>
          <a:prstGeom prst="rect">
            <a:avLst/>
          </a:prstGeom>
        </p:spPr>
        <p:txBody>
          <a:bodyPr/>
          <a:lstStyle/>
          <a:p>
            <a:fld id="{3892C34F-8098-44D7-BABE-F096F045C1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15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136922EA-3A5B-4EA9-A399-92156B45D863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58871" y="5845366"/>
            <a:ext cx="2743200" cy="365125"/>
          </a:xfrm>
          <a:prstGeom prst="rect">
            <a:avLst/>
          </a:prstGeom>
        </p:spPr>
        <p:txBody>
          <a:bodyPr/>
          <a:lstStyle/>
          <a:p>
            <a:fld id="{3892C34F-8098-44D7-BABE-F096F045C1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3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136922EA-3A5B-4EA9-A399-92156B45D863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858871" y="5845366"/>
            <a:ext cx="2743200" cy="365125"/>
          </a:xfrm>
          <a:prstGeom prst="rect">
            <a:avLst/>
          </a:prstGeom>
        </p:spPr>
        <p:txBody>
          <a:bodyPr/>
          <a:lstStyle/>
          <a:p>
            <a:fld id="{3892C34F-8098-44D7-BABE-F096F045C1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60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136922EA-3A5B-4EA9-A399-92156B45D863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58871" y="5845366"/>
            <a:ext cx="2743200" cy="365125"/>
          </a:xfrm>
          <a:prstGeom prst="rect">
            <a:avLst/>
          </a:prstGeom>
        </p:spPr>
        <p:txBody>
          <a:bodyPr/>
          <a:lstStyle/>
          <a:p>
            <a:fld id="{3892C34F-8098-44D7-BABE-F096F045C1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51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136922EA-3A5B-4EA9-A399-92156B45D863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58871" y="5845366"/>
            <a:ext cx="2743200" cy="365125"/>
          </a:xfrm>
          <a:prstGeom prst="rect">
            <a:avLst/>
          </a:prstGeom>
        </p:spPr>
        <p:txBody>
          <a:bodyPr/>
          <a:lstStyle/>
          <a:p>
            <a:fld id="{3892C34F-8098-44D7-BABE-F096F045C1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08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136922EA-3A5B-4EA9-A399-92156B45D863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58871" y="5845366"/>
            <a:ext cx="2743200" cy="365125"/>
          </a:xfrm>
          <a:prstGeom prst="rect">
            <a:avLst/>
          </a:prstGeom>
        </p:spPr>
        <p:txBody>
          <a:bodyPr/>
          <a:lstStyle/>
          <a:p>
            <a:fld id="{3892C34F-8098-44D7-BABE-F096F045C1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771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/>
          <a:lstStyle/>
          <a:p>
            <a:fld id="{136922EA-3A5B-4EA9-A399-92156B45D863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58871" y="5845366"/>
            <a:ext cx="2743200" cy="365125"/>
          </a:xfrm>
          <a:prstGeom prst="rect">
            <a:avLst/>
          </a:prstGeom>
        </p:spPr>
        <p:txBody>
          <a:bodyPr/>
          <a:lstStyle/>
          <a:p>
            <a:fld id="{3892C34F-8098-44D7-BABE-F096F045C1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2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E3804-BDCE-477C-9E6C-3C81090B0995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2E92-E176-4DE5-ACC8-AD4E65A967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77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E3804-BDCE-477C-9E6C-3C81090B0995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2E92-E176-4DE5-ACC8-AD4E65A967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41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E3804-BDCE-477C-9E6C-3C81090B0995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2E92-E176-4DE5-ACC8-AD4E65A967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91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E3804-BDCE-477C-9E6C-3C81090B0995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2E92-E176-4DE5-ACC8-AD4E65A967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4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E3804-BDCE-477C-9E6C-3C81090B0995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2E92-E176-4DE5-ACC8-AD4E65A967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98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E3804-BDCE-477C-9E6C-3C81090B0995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2E92-E176-4DE5-ACC8-AD4E65A967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045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E3804-BDCE-477C-9E6C-3C81090B0995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2E92-E176-4DE5-ACC8-AD4E65A967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23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E3804-BDCE-477C-9E6C-3C81090B0995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2E92-E176-4DE5-ACC8-AD4E65A967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774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E3804-BDCE-477C-9E6C-3C81090B0995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2E92-E176-4DE5-ACC8-AD4E65A967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484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E3804-BDCE-477C-9E6C-3C81090B0995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2E92-E176-4DE5-ACC8-AD4E65A967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8654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E3804-BDCE-477C-9E6C-3C81090B0995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22E92-E176-4DE5-ACC8-AD4E65A967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3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-1"/>
            <a:ext cx="12192000" cy="1438835"/>
          </a:xfrm>
          <a:prstGeom prst="rect">
            <a:avLst/>
          </a:prstGeom>
          <a:gradFill flip="none" rotWithShape="1">
            <a:gsLst>
              <a:gs pos="0">
                <a:srgbClr val="002060"/>
              </a:gs>
              <a:gs pos="50000">
                <a:srgbClr val="0070C0">
                  <a:shade val="67500"/>
                  <a:satMod val="115000"/>
                </a:srgbClr>
              </a:gs>
              <a:gs pos="81000">
                <a:srgbClr val="0070C0"/>
              </a:gs>
            </a:gsLst>
            <a:lin ang="3600000" scaled="0"/>
            <a:tileRect/>
          </a:gradFill>
          <a:ln>
            <a:noFill/>
          </a:ln>
          <a:effectLst>
            <a:outerShdw blurRad="114300" dist="88900" dir="4800000" algn="ctr" rotWithShape="0">
              <a:srgbClr val="000000">
                <a:alpha val="22000"/>
              </a:srgb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4778" y="190317"/>
            <a:ext cx="11066929" cy="1060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1672" y="1825625"/>
            <a:ext cx="1105348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2050" name="Picture 2" descr="C:\Users\Finch\Desktop\NoFraudLogo.p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0128279" y="6121831"/>
            <a:ext cx="1608252" cy="2936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72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0C0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E3804-BDCE-477C-9E6C-3C81090B0995}" type="datetimeFigureOut">
              <a:rPr lang="en-US" smtClean="0"/>
              <a:pPr/>
              <a:t>1/28/2016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22E92-E176-4DE5-ACC8-AD4E65A967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71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6305" y="1814286"/>
            <a:ext cx="8100383" cy="47033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$32 </a:t>
            </a:r>
            <a:r>
              <a:rPr lang="en-US" b="1" dirty="0" smtClean="0"/>
              <a:t>Billion: </a:t>
            </a:r>
          </a:p>
          <a:p>
            <a:pPr marL="0" indent="0">
              <a:buNone/>
            </a:pPr>
            <a:r>
              <a:rPr lang="en-US" dirty="0" smtClean="0"/>
              <a:t>US retailers lost to fraud in 2014</a:t>
            </a:r>
            <a:endParaRPr lang="en-US" sz="1800" dirty="0" smtClean="0"/>
          </a:p>
          <a:p>
            <a:pPr marL="0" indent="0">
              <a:buNone/>
            </a:pPr>
            <a:r>
              <a:rPr lang="en-US" sz="3600" b="1" dirty="0" smtClean="0"/>
              <a:t>1.5%:  </a:t>
            </a:r>
            <a:endParaRPr lang="en-US" sz="3600" dirty="0"/>
          </a:p>
          <a:p>
            <a:pPr marL="0" indent="0">
              <a:buNone/>
            </a:pPr>
            <a:r>
              <a:rPr lang="en-US" sz="3600" dirty="0" smtClean="0"/>
              <a:t>Of legitimate transactions rejected</a:t>
            </a:r>
          </a:p>
          <a:p>
            <a:pPr marL="0" indent="0">
              <a:buNone/>
            </a:pPr>
            <a:r>
              <a:rPr lang="en-US" sz="3600" b="1" dirty="0" smtClean="0"/>
              <a:t>27%:</a:t>
            </a:r>
          </a:p>
          <a:p>
            <a:pPr marL="0" indent="0">
              <a:buNone/>
            </a:pPr>
            <a:r>
              <a:rPr lang="en-US" sz="3600" dirty="0" smtClean="0"/>
              <a:t>Of transactions are reviewed </a:t>
            </a:r>
            <a:r>
              <a:rPr lang="en-US" sz="3600" dirty="0"/>
              <a:t>manually </a:t>
            </a:r>
            <a:endParaRPr lang="en-US" sz="3600" dirty="0" smtClean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Market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573" y="1814286"/>
            <a:ext cx="2750091" cy="4125794"/>
          </a:xfrm>
          <a:prstGeom prst="rect">
            <a:avLst/>
          </a:prstGeom>
        </p:spPr>
      </p:pic>
      <p:pic>
        <p:nvPicPr>
          <p:cNvPr id="3075" name="Picture 3" descr="C:\Users\Administrator\Desktop\Untitled-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6052" y="6126187"/>
            <a:ext cx="1822525" cy="41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1186" y="1828909"/>
            <a:ext cx="7309447" cy="4527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45%</a:t>
            </a:r>
            <a:r>
              <a:rPr lang="en-US" dirty="0" smtClean="0"/>
              <a:t> of all fraud occurs online and that is expected to grow as card security is added to brick &amp; mortal store payments in the </a:t>
            </a:r>
            <a:r>
              <a:rPr lang="en-US" dirty="0"/>
              <a:t>USA this </a:t>
            </a:r>
            <a:r>
              <a:rPr lang="en-US" dirty="0" smtClean="0"/>
              <a:t>October </a:t>
            </a:r>
            <a:r>
              <a:rPr lang="en-US" sz="2400" dirty="0" smtClean="0"/>
              <a:t>(more the 50% </a:t>
            </a:r>
            <a:r>
              <a:rPr lang="en-US" sz="2400" dirty="0"/>
              <a:t>of </a:t>
            </a:r>
            <a:r>
              <a:rPr lang="en-US" sz="2400" dirty="0" smtClean="0"/>
              <a:t>credit card fraud </a:t>
            </a:r>
            <a:r>
              <a:rPr lang="en-US" sz="2400" dirty="0"/>
              <a:t>occurs in the US) </a:t>
            </a: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pPr marL="0" indent="0">
              <a:buNone/>
            </a:pPr>
            <a:r>
              <a:rPr lang="en-US" b="1" dirty="0" smtClean="0"/>
              <a:t>EMV effect on CNP fraud:</a:t>
            </a:r>
          </a:p>
          <a:p>
            <a:pPr marL="0" indent="0">
              <a:buNone/>
            </a:pPr>
            <a:r>
              <a:rPr lang="en-US" sz="2800" dirty="0" smtClean="0"/>
              <a:t>Australia – up over 50%</a:t>
            </a:r>
          </a:p>
          <a:p>
            <a:pPr marL="0" indent="0">
              <a:buNone/>
            </a:pPr>
            <a:r>
              <a:rPr lang="en-US" sz="2800" dirty="0" smtClean="0"/>
              <a:t>UK – CNP fraud up 79%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CNP Expectations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631" y="1828912"/>
            <a:ext cx="3977368" cy="4136463"/>
          </a:xfrm>
          <a:prstGeom prst="rect">
            <a:avLst/>
          </a:prstGeom>
        </p:spPr>
      </p:pic>
      <p:pic>
        <p:nvPicPr>
          <p:cNvPr id="6" name="Picture 3" descr="C:\Users\Administrator\Desktop\Untitled-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6052" y="6126187"/>
            <a:ext cx="1822525" cy="41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917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4019" y="1857156"/>
            <a:ext cx="7309447" cy="4527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Merchants lose on average of $2.21 to fraud per a $78.30 transaction: </a:t>
            </a:r>
            <a:endParaRPr lang="en-US" b="1" dirty="0"/>
          </a:p>
          <a:p>
            <a:r>
              <a:rPr lang="en-US" sz="2400" dirty="0" smtClean="0"/>
              <a:t>Online fraud cost the merchant an average of $0.70 per a transaction.</a:t>
            </a:r>
          </a:p>
          <a:p>
            <a:r>
              <a:rPr lang="en-US" sz="2400" dirty="0" smtClean="0"/>
              <a:t>Lost revenue costs the merchants an average of $1.17 per transaction.</a:t>
            </a:r>
          </a:p>
          <a:p>
            <a:r>
              <a:rPr lang="en-US" sz="2400" dirty="0"/>
              <a:t>Manual review cost the merchant an additional </a:t>
            </a:r>
            <a:r>
              <a:rPr lang="en-US" sz="2400" dirty="0" smtClean="0"/>
              <a:t>$0.34 </a:t>
            </a:r>
            <a:r>
              <a:rPr lang="en-US" sz="2400" dirty="0"/>
              <a:t>per a transaction.</a:t>
            </a:r>
          </a:p>
          <a:p>
            <a:pPr marL="0" indent="0"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pPr marL="0" indent="0">
              <a:buNone/>
            </a:pPr>
            <a:endParaRPr lang="en-US" dirty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Cost to Merchants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996" y="1376817"/>
            <a:ext cx="6181725" cy="4779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 descr="C:\Users\Administrator\Desktop\Untitled-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6052" y="6126187"/>
            <a:ext cx="1822525" cy="41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8665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40564</TotalTime>
  <Words>195</Words>
  <Application>Microsoft Office PowerPoint</Application>
  <PresentationFormat>Custom</PresentationFormat>
  <Paragraphs>57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Office Theme</vt:lpstr>
      <vt:lpstr>Custom Design</vt:lpstr>
      <vt:lpstr>The Market</vt:lpstr>
      <vt:lpstr>CNP Expectations</vt:lpstr>
      <vt:lpstr>Cost to Merchants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SoftNAS</dc:title>
  <dc:creator>Yolande Yip</dc:creator>
  <cp:lastModifiedBy>shaya posner</cp:lastModifiedBy>
  <cp:revision>446</cp:revision>
  <dcterms:created xsi:type="dcterms:W3CDTF">2013-08-29T17:03:14Z</dcterms:created>
  <dcterms:modified xsi:type="dcterms:W3CDTF">2016-01-29T03:38:12Z</dcterms:modified>
</cp:coreProperties>
</file>